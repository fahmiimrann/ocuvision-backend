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4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ist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1A1E"/>
                </a:solidFill>
                <a:latin typeface="Georgia"/>
              </a:rPr>
              <a:t>OCUVISION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44C3E"/>
                </a:solidFill>
                <a:latin typeface="Calibri"/>
              </a:rPr>
              <a:t>Detect Early. Protect Vision. Empower Healthcare.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Product walkthrough of the live webapp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https://myvision-dev.calisto.co/   ·   Calisto VisionCare instance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E"/>
                </a:solidFill>
                <a:latin typeface="Calibri"/>
              </a:rPr>
              <a:t>What is OcuVision?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 Calisto clinical web platform for AI-driven retinal screening — from fundus capture to diagnostic report and patient registry.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4C3E"/>
                </a:solidFill>
                <a:latin typeface="Calibri"/>
              </a:rPr>
              <a:t>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E"/>
                </a:solidFill>
                <a:latin typeface="Calibri"/>
              </a:rPr>
              <a:t>OcuVision by Calisto Sdn. Bhd.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E"/>
                </a:solidFill>
                <a:latin typeface="Calibri"/>
              </a:rPr>
              <a:t>Instance: Calisto VisionCare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4C3E"/>
                </a:solidFill>
                <a:latin typeface="Calibri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E"/>
                </a:solidFill>
                <a:latin typeface="Calibri"/>
              </a:rPr>
              <a:t>Doctors, nurses, optometrists,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E"/>
                </a:solidFill>
                <a:latin typeface="Calibri"/>
              </a:rPr>
              <a:t>opticians, and clinic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4C3E"/>
                </a:solidFill>
                <a:latin typeface="Calibri"/>
              </a:rPr>
              <a:t>Core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E"/>
                </a:solidFill>
                <a:latin typeface="Calibri"/>
              </a:rPr>
              <a:t>Upload / capture fundus 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E"/>
                </a:solidFill>
                <a:latin typeface="Calibri"/>
              </a:rPr>
              <a:t>AI diagnosis → save &amp;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8288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4C3E"/>
                </a:solidFill>
                <a:latin typeface="Calibri"/>
              </a:rPr>
              <a:t>Live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834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E"/>
                </a:solidFill>
                <a:latin typeface="Calibri"/>
              </a:rPr>
              <a:t>myvision-dev.calisto.co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E"/>
                </a:solidFill>
                <a:latin typeface="Calibri"/>
              </a:rPr>
              <a:t>Premium Ophthalmic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E"/>
                </a:solidFill>
                <a:latin typeface="Calibri"/>
              </a:rPr>
              <a:t>Sign-in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Calisto-branded login card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Username + password auth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Register flow for new staff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Role titles: Doctor, Nurse,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  Optometrist, Optician, Admin…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Session tied to Calisto VisionCare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868680"/>
            <a:ext cx="70408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03020"/>
            <a:ext cx="694944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E"/>
                </a:solidFill>
                <a:latin typeface="Calibri"/>
              </a:rPr>
              <a:t>Platform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Five modules in the glass sidebar — the clinician’s daily workspace.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A6A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184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E"/>
                </a:solidFill>
                <a:latin typeface="Calibri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Live Clinical Console, KPIs, screening volume, quick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A6A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328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E"/>
                </a:solidFill>
                <a:latin typeface="Calibri"/>
              </a:rPr>
              <a:t>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603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Fundus upload / camera import + AI engine + screening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472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A6A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472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E"/>
                </a:solidFill>
                <a:latin typeface="Calibri"/>
              </a:rPr>
              <a:t>Patient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747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Search, filter, sort, view / edit / delete diagnostic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616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A6A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616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E"/>
                </a:solidFill>
                <a:latin typeface="Calibri"/>
              </a:rPr>
              <a:t>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3891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Case distribution, AI efficiency, demographics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760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A6A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760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E"/>
                </a:solidFill>
                <a:latin typeface="Calibri"/>
              </a:rPr>
              <a:t>Settings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3035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Account, device link (fundus camera), AI core / model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E"/>
                </a:solidFill>
                <a:latin typeface="Calibri"/>
              </a:rPr>
              <a:t>Overview — Live Clinical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“Detect Early. Protect Vision. Empower Healthcare.”  ·  KPIs, 7-day screening volume, Start New Screening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5166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4" y="1051560"/>
            <a:ext cx="811987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E"/>
                </a:solidFill>
                <a:latin typeface="Calibri"/>
              </a:rPr>
              <a:t>Diagnostics — AI Screening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Active AI engine picker · Connect local camera · Browse JPG / PNG / TIFF fundus photos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5166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4" y="1051560"/>
            <a:ext cx="811987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E"/>
                </a:solidFill>
                <a:latin typeface="Calibri"/>
              </a:rPr>
              <a:t>Screening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A6A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E"/>
                </a:solidFill>
                <a:latin typeface="Calibr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Connect fundus camera or upload high-res 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A6A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E"/>
                </a:solidFill>
                <a:latin typeface="Calibri"/>
              </a:rPr>
              <a:t>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Pick AI model (e.g. ResNet50 CNN / MATLAB)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188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08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A6A0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E"/>
                </a:solidFill>
                <a:latin typeface="Calibri"/>
              </a:rP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Pre-process · CLAHE · feature / CNN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A6A0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23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E"/>
                </a:solidFill>
                <a:latin typeface="Calibri"/>
              </a:rPr>
              <a:t>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Diagnosis, severity, notes, feature profiles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A6A0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023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E"/>
                </a:solidFill>
                <a:latin typeface="Calibri"/>
              </a:rPr>
              <a:t>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Auto-save to Patient Registry (OCU-####)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A6A0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023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E"/>
                </a:solidFill>
                <a:latin typeface="Calibri"/>
              </a:rPr>
              <a:t>Share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Print / Export Diagnostic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E"/>
                </a:solidFill>
                <a:latin typeface="Calibri"/>
              </a:rPr>
              <a:t>Patient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Search · filter · sort · color-coded AI results (Healthy / AMD / Glaucoma / DR) · view / edit / delete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5166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4" y="1051560"/>
            <a:ext cx="811987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E"/>
                </a:solidFill>
                <a:latin typeface="Calibri"/>
              </a:rPr>
              <a:t>Insights —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Case mix · AI efficiency · gender/age demographics · 7-day / 30-day / custom 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5166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4" y="1051560"/>
            <a:ext cx="811987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E"/>
                </a:solidFill>
                <a:latin typeface="Calibri"/>
              </a:rPr>
              <a:t>Settings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Staff Account · Device Link (fundus camera) · Data Privacy · AI Core / Model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5166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4" y="1051560"/>
            <a:ext cx="811987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E"/>
                </a:solidFill>
                <a:latin typeface="Calibri"/>
              </a:rPr>
              <a:t>AI Capabilities in the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Engines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Python ResNet50 CNN (built-in)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MATLAB Classification Learner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  Bagged Trees (.mat uploads)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Demo / selectable active model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Outputs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Diagnosis + severity banding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Confidence / clinical notes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Feature profiles (intensity,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  optic nerve, vascular, macular)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Conditions surfaced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Healthy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Diabetic Retinopathy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Glaucoma / Early Glaucoma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Age-related Macular Degeneration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Clinical extras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Printable Diagnostic Report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Referral / next-step guidance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E"/>
                </a:solidFill>
                <a:latin typeface="Calibri"/>
              </a:rPr>
              <a:t>• Password-gated edit &amp; delete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4C3E"/>
                </a:solidFill>
                <a:latin typeface="Calibri"/>
              </a:rPr>
              <a:t>Engines &amp;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4C3E"/>
                </a:solidFill>
                <a:latin typeface="Calibri"/>
              </a:rPr>
              <a:t>Conditions &amp; clinical extras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4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A1A1E"/>
                </a:solidFill>
                <a:latin typeface="Georgia"/>
              </a:rPr>
              <a:t>OcuVision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44C3E"/>
                </a:solidFill>
                <a:latin typeface="Calibri"/>
              </a:rPr>
              <a:t>Detect Early. Protect Vision. Empower Healthcare.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Live product: https://myvision-dev.calisto.co/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Powered by Calisto Sdn. Bhd.  ·  Calisto VisionCare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E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OcuVision  ·  myvision-dev.calisto.co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