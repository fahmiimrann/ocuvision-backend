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eorgia"/>
              </a:rPr>
              <a:t>OCUVISION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3DC9C2"/>
                </a:solidFill>
                <a:latin typeface="Calibri"/>
              </a:rPr>
              <a:t>AI-Powered Retinal Disease Screening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A0A8"/>
                </a:solidFill>
                <a:latin typeface="Calibri"/>
              </a:rPr>
              <a:t>Project Presentation  ·  Backend &amp; Inference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A0A8"/>
                </a:solidFill>
                <a:latin typeface="Calibri"/>
              </a:rPr>
              <a:t>Fundus image analysis  ·  Multi-engine AI  ·  Clinical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0A8"/>
                </a:solidFill>
                <a:latin typeface="Calibri"/>
              </a:rPr>
              <a:t>OcuVision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A0A8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9144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8F1F3"/>
                </a:solidFill>
                <a:latin typeface="Calibri"/>
              </a:rPr>
              <a:t>01   Problem &amp; clinical need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E8F1F3"/>
                </a:solidFill>
                <a:latin typeface="Calibri"/>
              </a:rPr>
              <a:t>02   OcuVision solution overview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E8F1F3"/>
                </a:solidFill>
                <a:latin typeface="Calibri"/>
              </a:rPr>
              <a:t>03   System architecture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E8F1F3"/>
                </a:solidFill>
                <a:latin typeface="Calibri"/>
              </a:rPr>
              <a:t>04   AI inference engines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E8F1F3"/>
                </a:solidFill>
                <a:latin typeface="Calibri"/>
              </a:rPr>
              <a:t>05   Feature extraction pipeline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E8F1F3"/>
                </a:solidFill>
                <a:latin typeface="Calibri"/>
              </a:rPr>
              <a:t>06   Supported diagnoses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E8F1F3"/>
                </a:solidFill>
                <a:latin typeface="Calibri"/>
              </a:rPr>
              <a:t>07   Backend API &amp; data model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E8F1F3"/>
                </a:solidFill>
                <a:latin typeface="Calibri"/>
              </a:rPr>
              <a:t>08   Clinical workflow &amp; demo path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E8F1F3"/>
                </a:solidFill>
                <a:latin typeface="Calibri"/>
              </a:rPr>
              <a:t>09   Tech stack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0A8"/>
                </a:solidFill>
                <a:latin typeface="Calibri"/>
              </a:rPr>
              <a:t>OcuVision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A0A8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C9C2"/>
                </a:solidFill>
                <a:latin typeface="Calibri"/>
              </a:rPr>
              <a:t>Retinal disease is treatable when caught early — but screening capacity is limited.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C9C2"/>
                </a:solidFill>
                <a:latin typeface="Calibri"/>
              </a:rPr>
              <a:t>Delayed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1F3"/>
                </a:solidFill>
                <a:latin typeface="Calibri"/>
              </a:rPr>
              <a:t>Diabetic retinopathy, glaucoma, and AMD often progress silently until vision is at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201168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19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C9C2"/>
                </a:solidFill>
                <a:latin typeface="Calibri"/>
              </a:rPr>
              <a:t>Specialist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30175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1F3"/>
                </a:solidFill>
                <a:latin typeface="Calibri"/>
              </a:rPr>
              <a:t>Ophthalmology expertise is unevenly distributed; many clinics lack on-site retinal specialists.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01168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C9C2"/>
                </a:solidFill>
                <a:latin typeface="Calibri"/>
              </a:rPr>
              <a:t>Inconsistent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301752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1F3"/>
                </a:solidFill>
                <a:latin typeface="Calibri"/>
              </a:rPr>
              <a:t>Manual fundus review is time-consuming and hard to scale for high-volume screening.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0A8"/>
                </a:solidFill>
                <a:latin typeface="Calibri"/>
              </a:rPr>
              <a:t>OcuVision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A0A8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The Solution — OcuVision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8F1F3"/>
                </a:solidFill>
                <a:latin typeface="Calibri"/>
              </a:rPr>
              <a:t>Upload a fundus image. Get a structured AI diagnosis with severity, confidence, and clinical notes — then save it to the patient record.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677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2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Capture /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A0A8"/>
                </a:solidFill>
                <a:latin typeface="Calibri"/>
              </a:rPr>
              <a:t>Fundus photograph ingested via the analyze API</a:t>
            </a:r>
          </a:p>
        </p:txBody>
      </p:sp>
      <p:sp>
        <p:nvSpPr>
          <p:cNvPr id="10" name="Oval 9"/>
          <p:cNvSpPr/>
          <p:nvPr/>
        </p:nvSpPr>
        <p:spPr>
          <a:xfrm>
            <a:off x="3429000" y="2194560"/>
            <a:ext cx="502920" cy="50292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2677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2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AI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A0A8"/>
                </a:solidFill>
                <a:latin typeface="Calibri"/>
              </a:rPr>
              <a:t>MATLAB Bagged Trees or Python ResNet50 CNN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2194560"/>
            <a:ext cx="502920" cy="50292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2677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2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Clinical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260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A0A8"/>
                </a:solidFill>
                <a:latin typeface="Calibri"/>
              </a:rPr>
              <a:t>Diagnosis · Severity · Notes · Feature map</a:t>
            </a:r>
          </a:p>
        </p:txBody>
      </p:sp>
      <p:sp>
        <p:nvSpPr>
          <p:cNvPr id="18" name="Oval 17"/>
          <p:cNvSpPr/>
          <p:nvPr/>
        </p:nvSpPr>
        <p:spPr>
          <a:xfrm>
            <a:off x="9189720" y="2194560"/>
            <a:ext cx="502920" cy="502920"/>
          </a:xfrm>
          <a:prstGeom prst="ellipse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2677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1F2A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Record &amp;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9260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A0A8"/>
                </a:solidFill>
                <a:latin typeface="Calibri"/>
              </a:rPr>
              <a:t>Persisted in Supabase for clinician follow-up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00"/>
                </a:solidFill>
                <a:latin typeface="Calibri"/>
              </a:rPr>
              <a:t>Design 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1F3"/>
                </a:solidFill>
                <a:latin typeface="Calibri"/>
              </a:rPr>
              <a:t>Assist clinicians with fast, explainable triage — not replace specialist judgment. Severity levels: Healthy · Moderate · Critical.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0A8"/>
                </a:solidFill>
                <a:latin typeface="Calibri"/>
              </a:rPr>
              <a:t>OcuVision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A0A8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C9C2"/>
                </a:solidFill>
                <a:latin typeface="Calibri"/>
              </a:rPr>
              <a:t>Client /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325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1F3"/>
                </a:solidFill>
                <a:latin typeface="Calibri"/>
              </a:rPr>
              <a:t>Fundus upload · Diagnosis view · Patient records · Model selection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C9C2"/>
                </a:solidFill>
                <a:latin typeface="Calibri"/>
              </a:rPr>
              <a:t>Node.js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514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1F3"/>
                </a:solidFill>
                <a:latin typeface="Calibri"/>
              </a:rPr>
              <a:t>Express server · Auth (Bearer tokens) · Multer uploads · /api/analyze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C9C2"/>
                </a:solidFill>
                <a:latin typeface="Calibri"/>
              </a:rPr>
              <a:t>Inference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703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1F3"/>
                </a:solidFill>
                <a:latin typeface="Calibri"/>
              </a:rPr>
              <a:t>matlab-runner.js  ↔  ocu_predict.m / compiled exe
python-runner.js  ↔  python_predict.py (ResNet50 CNN)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C9C2"/>
                </a:solidFill>
                <a:latin typeface="Calibri"/>
              </a:rP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8920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1F3"/>
                </a:solidFill>
                <a:latin typeface="Calibri"/>
              </a:rPr>
              <a:t>Supabase (Postgres) — users, records, fundus images, feature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0A8"/>
                </a:solidFill>
                <a:latin typeface="Calibri"/>
              </a:rPr>
              <a:t>OcuVision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A0A8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Multi-Engine AI Inference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C9C2"/>
                </a:solidFill>
                <a:latin typeface="Calibri"/>
              </a:rPr>
              <a:t>MATLAB — Bagged Trees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• Classification Learner export (.mat)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• 99_BaggedTreesModel classic path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• 24 handcrafted retinal features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• LBP · GLCM · intensity · vessels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• Runnable via full MATLAB or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  MATLAB Runtime (compiled ocu_main)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• JSON markers: OCU_JSON_BEGIN/END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C9C2"/>
                </a:solidFill>
                <a:latin typeface="Calibri"/>
              </a:rPr>
              <a:t>Python — ResNet50 CNN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• End-to-end deep learning engine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• Built-in model: python-cnn-resnet50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• Same response schema as MATLAB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• diagnosis · severity · score · notes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• features + class probabilities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• Invoked by python-runner.js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• JSON markers: PY_JSON_BEGIN/END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0A8"/>
                </a:solidFill>
                <a:latin typeface="Calibri"/>
              </a:rPr>
              <a:t>OcuVision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A0A8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Feature Extraction Pipeline (MATLAB)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C9C2"/>
                </a:solidFill>
                <a:latin typeface="Calibri"/>
              </a:rPr>
              <a:t>Image → 512×512 → CLAHE → 24-feature vector → Bagged Trees predictFcn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A500"/>
                </a:solidFill>
                <a:latin typeface="Calibri"/>
              </a:rPr>
              <a:t>LBP (f1–f10)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9019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1F3"/>
                </a:solidFill>
                <a:latin typeface="Calibri"/>
              </a:rPr>
              <a:t>Rotation-invariant local binary patterns (8 neighbors, radius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A500"/>
                </a:solidFill>
                <a:latin typeface="Calibri"/>
              </a:rPr>
              <a:t>GLCM texture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95351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1F3"/>
                </a:solidFill>
                <a:latin typeface="Calibri"/>
              </a:rPr>
              <a:t>Contrast, Correlation, Energy, Homogeneity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A500"/>
                </a:solidFill>
                <a:latin typeface="Calibri"/>
              </a:rPr>
              <a:t>Intensity stats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00507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1F3"/>
                </a:solidFill>
                <a:latin typeface="Calibri"/>
              </a:rPr>
              <a:t>Mean, Std, Variance, Skew, Kurtosis, Entropy, Uniformity…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00599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19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A500"/>
                </a:solidFill>
                <a:latin typeface="Calibri"/>
              </a:rPr>
              <a:t>Vessel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05663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1F3"/>
                </a:solidFill>
                <a:latin typeface="Calibri"/>
              </a:rPr>
              <a:t>GVD · LVD · VSM from green-channel vessel segmentation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0A8"/>
                </a:solidFill>
                <a:latin typeface="Calibri"/>
              </a:rPr>
              <a:t>OcuVision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A0A8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Supported Diagnoses &amp; Severity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AA0A8"/>
                </a:solidFill>
                <a:latin typeface="Calibri"/>
              </a:rPr>
              <a:t>Condition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188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AA0A8"/>
                </a:solidFill>
                <a:latin typeface="Calibri"/>
              </a:rPr>
              <a:t>Severity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AA0A8"/>
                </a:solidFill>
                <a:latin typeface="Calibri"/>
              </a:rPr>
              <a:t>Clinical note focus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Healthy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783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C9C2"/>
                </a:solidFill>
                <a:latin typeface="Calibri"/>
              </a:rPr>
              <a:t>Healthy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7830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3"/>
                </a:solidFill>
                <a:latin typeface="Calibri"/>
              </a:rPr>
              <a:t>Baseline fundus pattern — routine annual screening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06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Diabetic Retinopathy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060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05A5A"/>
                </a:solidFill>
                <a:latin typeface="Calibri"/>
              </a:rPr>
              <a:t>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606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3"/>
                </a:solidFill>
                <a:latin typeface="Calibri"/>
              </a:rPr>
              <a:t>Microaneurysms / hemorrhages — expert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4612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290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Glaucoma / Early Glaucoma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429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A500"/>
                </a:solidFill>
                <a:latin typeface="Calibri"/>
              </a:rPr>
              <a:t>Critical / Moderate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429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3"/>
                </a:solidFill>
                <a:latin typeface="Calibri"/>
              </a:rPr>
              <a:t>Cup-to-disc &amp; vessel morphology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519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Age-related Macular Degeneration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2519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A500"/>
                </a:solidFill>
                <a:latin typeface="Calibri"/>
              </a:rPr>
              <a:t>Moderate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251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3"/>
                </a:solidFill>
                <a:latin typeface="Calibri"/>
              </a:rPr>
              <a:t>Drusen / pigmentary change — specialist follow-up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9204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074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Cataract indicators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074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A500"/>
                </a:solidFill>
                <a:latin typeface="Calibri"/>
              </a:rPr>
              <a:t>Moderate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074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1F3"/>
                </a:solidFill>
                <a:latin typeface="Calibri"/>
              </a:rPr>
              <a:t>Lens opacification reducing image clarity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0A8"/>
                </a:solidFill>
                <a:latin typeface="Calibri"/>
              </a:rPr>
              <a:t>OcuVision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A0A8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Backend API Surface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611880" cy="475488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C9C2"/>
                </a:solidFill>
                <a:latin typeface="Calibri"/>
              </a:rPr>
              <a:t>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1F3"/>
                </a:solidFill>
                <a:latin typeface="Calibri"/>
              </a:rPr>
              <a:t>POST /api/login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1F3"/>
                </a:solidFill>
                <a:latin typeface="Calibri"/>
              </a:rPr>
              <a:t>POST /api/register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1F3"/>
                </a:solidFill>
                <a:latin typeface="Calibri"/>
              </a:rPr>
              <a:t>POST /api/logout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1F3"/>
                </a:solidFill>
                <a:latin typeface="Calibri"/>
              </a:rPr>
              <a:t>POST /api/auth/verify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1F3"/>
                </a:solidFill>
                <a:latin typeface="Calibri"/>
              </a:rPr>
              <a:t>GET/PATCH /api/users/me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611880" cy="475488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C9C2"/>
                </a:solidFill>
                <a:latin typeface="Calibri"/>
              </a:rPr>
              <a:t>Analysis &amp;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1F3"/>
                </a:solidFill>
                <a:latin typeface="Calibri"/>
              </a:rPr>
              <a:t>POST /api/analyze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1F3"/>
                </a:solidFill>
                <a:latin typeface="Calibri"/>
              </a:rPr>
              <a:t>GET  /api/models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1F3"/>
                </a:solidFill>
                <a:latin typeface="Calibri"/>
              </a:rPr>
              <a:t>POST /api/models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1F3"/>
                </a:solidFill>
                <a:latin typeface="Calibri"/>
              </a:rPr>
              <a:t>POST /api/models/select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1F3"/>
                </a:solidFill>
                <a:latin typeface="Calibri"/>
              </a:rPr>
              <a:t>GET  /api/health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611880" cy="475488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C9C2"/>
                </a:solidFill>
                <a:latin typeface="Calibri"/>
              </a:rPr>
              <a:t>Patient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031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1F3"/>
                </a:solidFill>
                <a:latin typeface="Calibri"/>
              </a:rPr>
              <a:t>GET    /api/records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1F3"/>
                </a:solidFill>
                <a:latin typeface="Calibri"/>
              </a:rPr>
              <a:t>POST   /api/records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1F3"/>
                </a:solidFill>
                <a:latin typeface="Calibri"/>
              </a:rPr>
              <a:t>PATCH  /api/records/:id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1F3"/>
                </a:solidFill>
                <a:latin typeface="Calibri"/>
              </a:rPr>
              <a:t>DELETE /api/records/:id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1F3"/>
                </a:solidFill>
                <a:latin typeface="Calibri"/>
              </a:rPr>
              <a:t>Auto IDs: OCU-####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0A8"/>
                </a:solidFill>
                <a:latin typeface="Calibri"/>
              </a:rPr>
              <a:t>OcuVision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A0A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Data Model (Supabase / Postgres)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C9C2"/>
                </a:solidFill>
                <a:latin typeface="Calibri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id · username · password · name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type (doctor / nurse / intern)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email · avatar · token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created_at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Roles seeded for demo: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Dr. Julian Voss · Nurse Meera Syed · Fahmi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C9C2"/>
                </a:solidFill>
                <a:latin typeface="Calibri"/>
              </a:rPr>
              <a:t>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id · patient · age · gender · date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result · confidence · doctor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severity · fundus_image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features (JSONB)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created_by · updated_by · timestamps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RLS enabled — backend uses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8F1F3"/>
                </a:solidFill>
                <a:latin typeface="Calibri"/>
              </a:rPr>
              <a:t>SERVICE_ROLE key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0A8"/>
                </a:solidFill>
                <a:latin typeface="Calibri"/>
              </a:rPr>
              <a:t>OcuVision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A0A8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Analyze Request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02920" cy="502920"/>
          </a:xfrm>
          <a:prstGeom prst="round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2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618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1F3"/>
                </a:solidFill>
                <a:latin typeface="Calibri"/>
              </a:rPr>
              <a:t>Client POSTs fundus image to /api/analyze (multipart)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47088"/>
            <a:ext cx="502920" cy="502920"/>
          </a:xfrm>
          <a:prstGeom prst="round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2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1F3"/>
                </a:solidFill>
                <a:latin typeface="Calibri"/>
              </a:rPr>
              <a:t>Server resolves active model from models.json 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05456"/>
            <a:ext cx="502920" cy="502920"/>
          </a:xfrm>
          <a:prstGeom prst="round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786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2A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786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1F3"/>
                </a:solidFill>
                <a:latin typeface="Calibri"/>
              </a:rPr>
              <a:t>If python-* → python-runner → python_predict.py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63824"/>
            <a:ext cx="502920" cy="502920"/>
          </a:xfrm>
          <a:prstGeom prst="round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3697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2A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3697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1F3"/>
                </a:solidFill>
                <a:latin typeface="Calibri"/>
              </a:rPr>
              <a:t>If .mat → matlab-runner → ocu_predict / compiled exe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22192"/>
            <a:ext cx="502920" cy="502920"/>
          </a:xfrm>
          <a:prstGeom prst="round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9534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2A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9534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1F3"/>
                </a:solidFill>
                <a:latin typeface="Calibri"/>
              </a:rPr>
              <a:t>Stdout JSON extracted via marker delimiters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80559"/>
            <a:ext cx="502920" cy="502920"/>
          </a:xfrm>
          <a:prstGeom prst="round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53711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2A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53711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1F3"/>
                </a:solidFill>
                <a:latin typeface="Calibri"/>
              </a:rPr>
              <a:t>Response normalized: result, severity, status, score, notes, features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38928"/>
            <a:ext cx="502920" cy="502920"/>
          </a:xfrm>
          <a:prstGeom prst="round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F2A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F1F3"/>
                </a:solidFill>
                <a:latin typeface="Calibri"/>
              </a:rPr>
              <a:t>Optional: client saves to /api/records for longitudinal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0A8"/>
                </a:solidFill>
                <a:latin typeface="Calibri"/>
              </a:rPr>
              <a:t>OcuVision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A0A8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DC9C2"/>
                </a:solidFill>
                <a:latin typeface="Calibri"/>
              </a:rPr>
              <a:t>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3898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1F3"/>
                </a:solidFill>
                <a:latin typeface="Calibri"/>
              </a:rPr>
              <a:t>Node.js · Express · Multer · dotenv · CORS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DC9C2"/>
                </a:solidFill>
                <a:latin typeface="Calibri"/>
              </a:rPr>
              <a:t>AI /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3042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1F3"/>
                </a:solidFill>
                <a:latin typeface="Calibri"/>
              </a:rPr>
              <a:t>MATLAB Classification Learner · Bagged Trees · Python ResNet50 · NumPy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DC9C2"/>
                </a:solidFill>
                <a:latin typeface="Calibri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2186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1F3"/>
                </a:solidFill>
                <a:latin typeface="Calibri"/>
              </a:rPr>
              <a:t>Supabase (PostgreSQL) · @supabase/supabase-js · RLS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DC9C2"/>
                </a:solidFill>
                <a:latin typeface="Calibri"/>
              </a:rPr>
              <a:t>Deploy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1330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1F3"/>
                </a:solidFill>
                <a:latin typeface="Calibri"/>
              </a:rPr>
              <a:t>MATLAB Compiler → licence-free Runtime binary for servers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4632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DC9C2"/>
                </a:solidFill>
                <a:latin typeface="Calibri"/>
              </a:rPr>
              <a:t>I/O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0474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F1F3"/>
                </a:solidFill>
                <a:latin typeface="Calibri"/>
              </a:rPr>
              <a:t>Shared JSON schema across engines for UI compatibility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0A8"/>
                </a:solidFill>
                <a:latin typeface="Calibri"/>
              </a:rPr>
              <a:t>OcuVision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A0A8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Demo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00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A0A8"/>
                </a:solidFill>
                <a:latin typeface="Calibri"/>
              </a:rPr>
              <a:t>Use seeded clinician account (e.g. doctor / ocularxr)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00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Select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A0A8"/>
                </a:solidFill>
                <a:latin typeface="Calibri"/>
              </a:rPr>
              <a:t>Switch between Demo, Bagged Trees .mat, or ResNet50 CNN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00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965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Upload fundus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68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A0A8"/>
                </a:solidFill>
                <a:latin typeface="Calibri"/>
              </a:rPr>
              <a:t>POST image → receive diagnosis + severity +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00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Review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54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A0A8"/>
                </a:solidFill>
                <a:latin typeface="Calibri"/>
              </a:rPr>
              <a:t>Check notes, confidence, and feature breakdown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5661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00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251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Save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54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A0A8"/>
                </a:solidFill>
                <a:latin typeface="Calibri"/>
              </a:rPr>
              <a:t>Create OCU-#### patient record for follow-up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5661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43240"/>
          </a:solidFill>
          <a:ln w="12700">
            <a:solidFill>
              <a:srgbClr val="1E4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00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251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Health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7548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A0A8"/>
                </a:solidFill>
                <a:latin typeface="Calibri"/>
              </a:rPr>
              <a:t>GET /api/health confirms MATLAB / Python availability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0A8"/>
                </a:solidFill>
                <a:latin typeface="Calibri"/>
              </a:rPr>
              <a:t>OcuVision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A0A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Georgia"/>
              </a:rPr>
              <a:t>OcuVision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DC9C2"/>
                </a:solidFill>
                <a:latin typeface="Calibri"/>
              </a:rPr>
              <a:t>Faster retinal triage. Structured clinical output. Multi-engine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AA0A8"/>
                </a:solidFill>
                <a:latin typeface="Calibri"/>
              </a:rPr>
              <a:t>Next steps: expand disease classes · calibration against specialist labels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8AA0A8"/>
                </a:solidFill>
                <a:latin typeface="Calibri"/>
              </a:rPr>
              <a:t>harden production auth · observability on inference latency · UI polish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A0A8"/>
                </a:solidFill>
                <a:latin typeface="Calibri"/>
              </a:rPr>
              <a:t>OcuVision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A0A8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